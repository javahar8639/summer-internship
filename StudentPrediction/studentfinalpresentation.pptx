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0C4F-AF57-4E28-F2CC-0B9729420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3342" y="119743"/>
            <a:ext cx="8414657" cy="2536371"/>
          </a:xfrm>
        </p:spPr>
        <p:txBody>
          <a:bodyPr>
            <a:normAutofit/>
          </a:bodyPr>
          <a:lstStyle/>
          <a:p>
            <a:r>
              <a:rPr lang="en-IN" sz="6000" dirty="0">
                <a:solidFill>
                  <a:schemeClr val="accent2">
                    <a:lumMod val="75000"/>
                  </a:schemeClr>
                </a:solidFill>
              </a:rPr>
              <a:t>Student Performance Prediction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874F85B-1CCD-6AEF-FBE5-B882D7EEE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3343" y="3222171"/>
            <a:ext cx="8414657" cy="2035629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Team members</a:t>
            </a:r>
          </a:p>
          <a:p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ANIL</a:t>
            </a:r>
          </a:p>
          <a:p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K.Venkata Javahar Reddy</a:t>
            </a:r>
          </a:p>
          <a:p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p.suresh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E30F62-6FE8-1BC9-E231-FB4DAB5E9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5942"/>
            <a:ext cx="12192000" cy="70539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A54751-58DE-9379-FED6-2C1F67E76CED}"/>
              </a:ext>
            </a:extLst>
          </p:cNvPr>
          <p:cNvSpPr txBox="1"/>
          <p:nvPr/>
        </p:nvSpPr>
        <p:spPr>
          <a:xfrm>
            <a:off x="255813" y="-43233"/>
            <a:ext cx="62048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6000" b="0" i="0" u="none" strike="noStrike" kern="1200" cap="all" spc="0" normalizeH="0" baseline="0" noProof="0" dirty="0">
                <a:ln>
                  <a:noFill/>
                </a:ln>
                <a:solidFill>
                  <a:srgbClr val="54BCDF">
                    <a:lumMod val="75000"/>
                  </a:srgbClr>
                </a:solidFill>
                <a:effectLst/>
                <a:uLnTx/>
                <a:uFillTx/>
                <a:latin typeface="Tw Cen MT" panose="020B0602020104020603"/>
                <a:ea typeface="+mj-ea"/>
                <a:cs typeface="+mj-cs"/>
              </a:rPr>
              <a:t>Student Performance Prediction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5F61C-EDDE-065C-65E4-490442A440D7}"/>
              </a:ext>
            </a:extLst>
          </p:cNvPr>
          <p:cNvSpPr txBox="1"/>
          <p:nvPr/>
        </p:nvSpPr>
        <p:spPr>
          <a:xfrm>
            <a:off x="8033658" y="4709708"/>
            <a:ext cx="62048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</a:rPr>
              <a:t>Team Members</a:t>
            </a:r>
          </a:p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V.Himavenkata Anil</a:t>
            </a:r>
          </a:p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K.Venkata Javahar Reddy</a:t>
            </a:r>
          </a:p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P.Suresh</a:t>
            </a:r>
          </a:p>
          <a:p>
            <a:endParaRPr lang="en-IN" sz="2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36A7-0887-4751-8E6E-E4DC1F33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858"/>
            <a:ext cx="9905998" cy="805542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                            </a:t>
            </a:r>
            <a:r>
              <a:rPr lang="en-IN" sz="4000" dirty="0">
                <a:solidFill>
                  <a:schemeClr val="accent5"/>
                </a:solidFill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EFC00-A34F-E10B-9C69-CE643CD97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760" y="762000"/>
            <a:ext cx="10056812" cy="5758543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Abstract</a:t>
            </a:r>
          </a:p>
          <a:p>
            <a:r>
              <a:rPr lang="en-US" sz="8000" dirty="0"/>
              <a:t>Introduction</a:t>
            </a:r>
          </a:p>
          <a:p>
            <a:r>
              <a:rPr lang="en-US" sz="8000" dirty="0"/>
              <a:t>Software Requirement</a:t>
            </a:r>
          </a:p>
          <a:p>
            <a:r>
              <a:rPr lang="en-US" sz="8000" dirty="0"/>
              <a:t>System Requirements</a:t>
            </a:r>
          </a:p>
          <a:p>
            <a:r>
              <a:rPr lang="en-US" sz="8000" dirty="0"/>
              <a:t>Architecture</a:t>
            </a:r>
          </a:p>
          <a:p>
            <a:r>
              <a:rPr lang="en-US" sz="8000" dirty="0"/>
              <a:t>Importing Dataset</a:t>
            </a:r>
          </a:p>
          <a:p>
            <a:r>
              <a:rPr lang="en-US" sz="8000" dirty="0"/>
              <a:t>Data Exploration</a:t>
            </a:r>
          </a:p>
          <a:p>
            <a:r>
              <a:rPr lang="en-US" sz="8000" dirty="0"/>
              <a:t>Data Cleaning</a:t>
            </a:r>
          </a:p>
          <a:p>
            <a:r>
              <a:rPr lang="en-US" sz="8000" dirty="0"/>
              <a:t>Data Grouping </a:t>
            </a:r>
          </a:p>
          <a:p>
            <a:r>
              <a:rPr lang="en-US" sz="8000" dirty="0"/>
              <a:t>Data Visualization</a:t>
            </a:r>
          </a:p>
          <a:p>
            <a:r>
              <a:rPr lang="en-US" sz="8000" dirty="0"/>
              <a:t>Libraries Used</a:t>
            </a:r>
          </a:p>
          <a:p>
            <a:r>
              <a:rPr lang="en-US" sz="8000" dirty="0"/>
              <a:t>Advantages</a:t>
            </a:r>
          </a:p>
          <a:p>
            <a:r>
              <a:rPr lang="en-US" sz="8000" dirty="0"/>
              <a:t>Conclusion</a:t>
            </a:r>
          </a:p>
          <a:p>
            <a:pPr marL="1371600" lvl="3" indent="0">
              <a:buNone/>
            </a:pPr>
            <a:endParaRPr lang="en-US" sz="10400" dirty="0"/>
          </a:p>
          <a:p>
            <a:endParaRPr lang="en-IN" sz="3100" dirty="0"/>
          </a:p>
        </p:txBody>
      </p:sp>
    </p:spTree>
    <p:extLst>
      <p:ext uri="{BB962C8B-B14F-4D97-AF65-F5344CB8AC3E}">
        <p14:creationId xmlns:p14="http://schemas.microsoft.com/office/powerpoint/2010/main" val="373731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0FE2-D7AF-C6C6-E498-36B95F13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</a:t>
            </a:r>
            <a:r>
              <a:rPr lang="en-IN" sz="4000" dirty="0">
                <a:solidFill>
                  <a:schemeClr val="accent5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ACC02-0C3E-204E-E23A-11B34CACC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300" dirty="0"/>
              <a:t>This study aims to predict student performance using Python libraries such as Pandas, Matplotlib, Seaborn, and Scikit-learn. Data-driven educational analysis helps in improving learning outcomes.</a:t>
            </a:r>
          </a:p>
          <a:p>
            <a:r>
              <a:rPr lang="en-US" sz="3300" dirty="0"/>
              <a:t>This project explores the prediction of student academic performance using Data Analysis  It involves data preprocessing, feature selection, and model training using Python.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8493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B116-4399-F387-CDD9-420AB79F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                        </a:t>
            </a:r>
            <a:r>
              <a:rPr lang="en-IN" sz="4000" dirty="0">
                <a:solidFill>
                  <a:schemeClr val="accent5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8876-DFCA-AD24-6423-E198AE084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473645" cy="3541714"/>
          </a:xfrm>
        </p:spPr>
        <p:txBody>
          <a:bodyPr>
            <a:normAutofit/>
          </a:bodyPr>
          <a:lstStyle/>
          <a:p>
            <a:r>
              <a:rPr lang="en-US" sz="3200" dirty="0"/>
              <a:t>In the field of education, understanding student performance trends helps in developing effective intervention strategies and improving academic outcomes.</a:t>
            </a:r>
          </a:p>
        </p:txBody>
      </p:sp>
    </p:spTree>
    <p:extLst>
      <p:ext uri="{BB962C8B-B14F-4D97-AF65-F5344CB8AC3E}">
        <p14:creationId xmlns:p14="http://schemas.microsoft.com/office/powerpoint/2010/main" val="280208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9652-40E5-9625-89A9-7FBAA2D1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/>
                </a:solidFill>
              </a:rPr>
              <a:t>                   </a:t>
            </a:r>
            <a:r>
              <a:rPr lang="en-IN" sz="4000" dirty="0">
                <a:solidFill>
                  <a:schemeClr val="accent5"/>
                </a:solidFill>
              </a:rPr>
              <a:t>SOFTWARE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CF291-B23F-718F-4220-6433AA838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25000" lnSpcReduction="20000"/>
          </a:bodyPr>
          <a:lstStyle/>
          <a:p>
            <a:r>
              <a:rPr lang="en-IN" sz="11200" dirty="0"/>
              <a:t>Operating System: Windows/Linux/MacOS</a:t>
            </a:r>
          </a:p>
          <a:p>
            <a:r>
              <a:rPr lang="en-IN" sz="11200" dirty="0"/>
              <a:t>Python: 3.x</a:t>
            </a:r>
          </a:p>
          <a:p>
            <a:r>
              <a:rPr lang="en-IN" sz="11200" dirty="0"/>
              <a:t>Libraries:</a:t>
            </a:r>
          </a:p>
          <a:p>
            <a:r>
              <a:rPr lang="en-IN" sz="11200" dirty="0"/>
              <a:t>Pandas</a:t>
            </a:r>
          </a:p>
          <a:p>
            <a:r>
              <a:rPr lang="en-IN" sz="11200" dirty="0"/>
              <a:t>Matplotlib</a:t>
            </a:r>
          </a:p>
          <a:p>
            <a:r>
              <a:rPr lang="en-IN" sz="11200" dirty="0"/>
              <a:t>Seaborn</a:t>
            </a:r>
          </a:p>
          <a:p>
            <a:r>
              <a:rPr lang="en-IN" sz="11200" dirty="0"/>
              <a:t>Scikit-learn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72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F335-4365-B1AC-E22A-DDD778C6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</a:t>
            </a:r>
            <a:r>
              <a:rPr lang="en-IN" sz="4000" dirty="0">
                <a:solidFill>
                  <a:schemeClr val="accent5"/>
                </a:solidFill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A9D6-3800-0101-3663-E995E5943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IDE: Jupiter Notebook</a:t>
            </a:r>
          </a:p>
          <a:p>
            <a:r>
              <a:rPr lang="en-US" sz="3000" dirty="0"/>
              <a:t>Storage: Sufficient space to store dataset and outputs</a:t>
            </a:r>
          </a:p>
          <a:p>
            <a:r>
              <a:rPr lang="en-US" sz="3000" dirty="0"/>
              <a:t>RAM: Minimum 4GB recommended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62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06E7-DE74-0371-8B06-F670EFEE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  <a:r>
              <a:rPr lang="en-IN" sz="4000" dirty="0">
                <a:solidFill>
                  <a:schemeClr val="accent5"/>
                </a:solidFill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704F-F75F-9F66-927B-08150C55A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Autofit/>
          </a:bodyPr>
          <a:lstStyle/>
          <a:p>
            <a:r>
              <a:rPr lang="en-US" sz="2800" dirty="0"/>
              <a:t>Data Acquisition</a:t>
            </a:r>
          </a:p>
          <a:p>
            <a:r>
              <a:rPr lang="en-US" sz="2800" dirty="0"/>
              <a:t>Preprocessing</a:t>
            </a:r>
          </a:p>
          <a:p>
            <a:r>
              <a:rPr lang="en-US" sz="2800" dirty="0"/>
              <a:t>Feature Engineering</a:t>
            </a:r>
          </a:p>
          <a:p>
            <a:r>
              <a:rPr lang="en-US" sz="2800" dirty="0"/>
              <a:t>Modeling</a:t>
            </a:r>
          </a:p>
          <a:p>
            <a:r>
              <a:rPr lang="en-US" sz="2800" dirty="0"/>
              <a:t>Evaluation</a:t>
            </a:r>
          </a:p>
          <a:p>
            <a:r>
              <a:rPr lang="en-US" sz="2800" dirty="0"/>
              <a:t>Visualization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5376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3077-A6D5-066C-35F1-3A8CF01B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5"/>
                </a:solidFill>
              </a:rPr>
              <a:t>                   IMPORTING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3DC9-DF9F-9CE1-1908-7D690DB9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065" y="1817914"/>
            <a:ext cx="10003290" cy="4680857"/>
          </a:xfrm>
        </p:spPr>
        <p:txBody>
          <a:bodyPr/>
          <a:lstStyle/>
          <a:p>
            <a:endParaRPr lang="en-IN" sz="2800" dirty="0"/>
          </a:p>
          <a:p>
            <a:r>
              <a:rPr lang="en-IN" sz="2800" dirty="0"/>
              <a:t>Dataset loaded using Pandas:</a:t>
            </a:r>
          </a:p>
          <a:p>
            <a:r>
              <a:rPr lang="en-IN" sz="2800" dirty="0"/>
              <a:t>Pd.read csv('student_performance_prediction.csv')</a:t>
            </a:r>
          </a:p>
          <a:p>
            <a:r>
              <a:rPr lang="en-IN" sz="2800" dirty="0"/>
              <a:t>Checked using head(), info(), describe()</a:t>
            </a:r>
          </a:p>
          <a:p>
            <a:r>
              <a:rPr lang="en-IN" sz="2800" dirty="0"/>
              <a:t>                         </a:t>
            </a:r>
          </a:p>
          <a:p>
            <a:r>
              <a:rPr lang="en-IN" sz="3200" dirty="0"/>
              <a:t>               </a:t>
            </a:r>
          </a:p>
          <a:p>
            <a:r>
              <a:rPr lang="en-IN" sz="3200" dirty="0"/>
              <a:t> </a:t>
            </a:r>
          </a:p>
          <a:p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70C9A5-2058-F843-B980-5F5D867CD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4447498"/>
            <a:ext cx="1231174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altLang="en-US" sz="2800" b="1" dirty="0">
                <a:solidFill>
                  <a:srgbClr val="AA22FF"/>
                </a:solidFill>
              </a:rPr>
              <a:t>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55AA"/>
                </a:solidFill>
                <a:effectLst/>
                <a:latin typeface="inherit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E139B0-F141-C870-65B2-3BC042C36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5127091"/>
            <a:ext cx="13769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A22FF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55AA"/>
                </a:solidFill>
                <a:effectLst/>
                <a:latin typeface="inherit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A9636A-39B2-B6B9-2A11-E795EDB34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5806684"/>
            <a:ext cx="69886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altLang="en-US" sz="2800" b="1" dirty="0">
                <a:solidFill>
                  <a:srgbClr val="AA22FF"/>
                </a:solidFill>
              </a:rPr>
              <a:t>.</a:t>
            </a:r>
            <a:r>
              <a:rPr lang="en-US" altLang="en-US" sz="2800" dirty="0"/>
              <a:t>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escribe</a:t>
            </a:r>
            <a:r>
              <a:rPr lang="en-US" altLang="en-US" sz="2800" dirty="0">
                <a:solidFill>
                  <a:srgbClr val="0055AA"/>
                </a:solidFill>
                <a:latin typeface="inherit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</a:t>
            </a:r>
            <a:r>
              <a:rPr lang="en-US" altLang="en-US" sz="2800" b="1" dirty="0">
                <a:solidFill>
                  <a:srgbClr val="AA22FF"/>
                </a:solidFill>
              </a:rPr>
              <a:t>=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inherit"/>
              </a:rPr>
              <a:t>'object’)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6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2CEB-032B-1620-3819-FCABF153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5"/>
                </a:solidFill>
              </a:rPr>
              <a:t>                   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5FE07-4DBF-AB10-9543-DBA268B11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Initial analysis included:</a:t>
            </a:r>
          </a:p>
          <a:p>
            <a:r>
              <a:rPr lang="en-US" sz="2800" dirty="0"/>
              <a:t>- Distribution of grades</a:t>
            </a:r>
          </a:p>
          <a:p>
            <a:r>
              <a:rPr lang="en-US" sz="2800" dirty="0"/>
              <a:t>- Attendance</a:t>
            </a:r>
          </a:p>
          <a:p>
            <a:r>
              <a:rPr lang="en-US" sz="2800" dirty="0"/>
              <a:t>- Correlation heatmaps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37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FC25-8B57-769E-AED3-29CF6367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r>
              <a:rPr lang="en-IN" sz="4000" dirty="0">
                <a:solidFill>
                  <a:schemeClr val="accent5"/>
                </a:solidFill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2185-9D6C-0B07-2A96-AC1DB61EE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Removed missing values, handled outliers, encoded categorical data, and normalized features.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16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004B-57E6-1938-8F68-66E4BBAF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r>
              <a:rPr lang="en-IN" sz="4000" dirty="0">
                <a:solidFill>
                  <a:schemeClr val="accent5"/>
                </a:solidFill>
              </a:rPr>
              <a:t>DATA 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B63E-2A6D-FE4E-3C5B-60D34ADD7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1883229"/>
            <a:ext cx="10922251" cy="3907972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Grouped students by features like:</a:t>
            </a:r>
          </a:p>
          <a:p>
            <a:r>
              <a:rPr lang="en-US" altLang="en-US" sz="2800" b="1" dirty="0">
                <a:latin typeface="Arial" panose="020B0604020202020204" pitchFamily="34" charset="0"/>
              </a:rPr>
              <a:t>Parental education</a:t>
            </a:r>
            <a:r>
              <a:rPr lang="en-US" altLang="en-US" sz="2800" dirty="0">
                <a:latin typeface="Arial" panose="020B0604020202020204" pitchFamily="34" charset="0"/>
              </a:rPr>
              <a:t>: Grouped by parents’ education to see its effect on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 Internet access</a:t>
            </a:r>
            <a:r>
              <a:rPr lang="en-US" altLang="en-US" sz="2800" dirty="0">
                <a:latin typeface="Arial" panose="020B0604020202020204" pitchFamily="34" charset="0"/>
              </a:rPr>
              <a:t>: Grouped by home internet availability and its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impact.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 Past failures</a:t>
            </a:r>
            <a:r>
              <a:rPr lang="en-US" altLang="en-US" sz="2800" dirty="0">
                <a:latin typeface="Arial" panose="020B0604020202020204" pitchFamily="34" charset="0"/>
              </a:rPr>
              <a:t>: Grouped by past failures to assess academic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impact.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 Study time</a:t>
            </a:r>
            <a:r>
              <a:rPr lang="en-US" altLang="en-US" sz="2800" dirty="0">
                <a:latin typeface="Arial" panose="020B0604020202020204" pitchFamily="34" charset="0"/>
              </a:rPr>
              <a:t>: Grouped by study hours to link effort with grades.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7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46A9-AE7F-7469-2846-4FE8643C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5"/>
                </a:solidFill>
              </a:rPr>
              <a:t>                   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C0E04-E91C-E075-E17F-53F647DAB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6143"/>
            <a:ext cx="9905999" cy="3995058"/>
          </a:xfrm>
        </p:spPr>
        <p:txBody>
          <a:bodyPr/>
          <a:lstStyle/>
          <a:p>
            <a:r>
              <a:rPr lang="en-US" sz="3200" dirty="0"/>
              <a:t>Used Matplotlib and Seaborn:</a:t>
            </a:r>
          </a:p>
          <a:p>
            <a:endParaRPr lang="en-US" sz="3200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BF4A2-2948-1ABB-58F3-C78993D729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45028" y="3943239"/>
            <a:ext cx="90895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4EA627-1377-8259-AF5C-53C053E5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081191"/>
            <a:ext cx="1014707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plots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to compare average student performance   across different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 plots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Showed scatter relationships between multiple feature pairs with class separation.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Visualized correlation between features to identify strong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Histograms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Displayed distribution of individual features like study time and grades.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42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74E6-08A9-0FC0-5BB0-8DBA8B58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r>
              <a:rPr lang="en-IN" sz="4000" dirty="0">
                <a:solidFill>
                  <a:schemeClr val="accent5"/>
                </a:solidFill>
              </a:rPr>
              <a:t>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56A4-81C7-FAF7-055D-C3142E8A8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31774"/>
            <a:ext cx="9905999" cy="3541714"/>
          </a:xfrm>
        </p:spPr>
        <p:txBody>
          <a:bodyPr>
            <a:normAutofit/>
          </a:bodyPr>
          <a:lstStyle/>
          <a:p>
            <a:r>
              <a:rPr lang="en-IN" sz="2800" dirty="0"/>
              <a:t>Pandas</a:t>
            </a:r>
          </a:p>
          <a:p>
            <a:r>
              <a:rPr lang="en-IN" sz="2800" dirty="0"/>
              <a:t>Matplotlib</a:t>
            </a:r>
          </a:p>
          <a:p>
            <a:r>
              <a:rPr lang="en-IN" sz="2800" dirty="0"/>
              <a:t>Seaborn</a:t>
            </a:r>
          </a:p>
          <a:p>
            <a:r>
              <a:rPr lang="en-IN" sz="2800" dirty="0"/>
              <a:t>Scikit-learn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98873-2DE6-F09B-D537-6B96F217C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734" y="2188030"/>
            <a:ext cx="5891895" cy="289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9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7E70-1E85-0577-449C-EC277488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5"/>
                </a:solidFill>
              </a:rPr>
              <a:t>                        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305E5-B6DC-CA3C-46C0-0AE0628D2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Efficient data preprocessing and visualization.</a:t>
            </a:r>
          </a:p>
          <a:p>
            <a:r>
              <a:rPr lang="en-US" sz="2800" dirty="0"/>
              <a:t>Prediction of at-risk students.</a:t>
            </a:r>
          </a:p>
          <a:p>
            <a:r>
              <a:rPr lang="en-US" sz="2800" dirty="0"/>
              <a:t>Support for educational planning.</a:t>
            </a:r>
          </a:p>
          <a:p>
            <a:r>
              <a:rPr lang="en-IN" sz="2800" dirty="0"/>
              <a:t>Personalized Learning Plans.</a:t>
            </a:r>
          </a:p>
          <a:p>
            <a:r>
              <a:rPr lang="en-IN" sz="2800" dirty="0"/>
              <a:t>Data-Backed Policy Formation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861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C952-EE23-F752-7FB1-72B9A1C0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  <a:r>
              <a:rPr lang="en-IN" sz="4000" dirty="0">
                <a:solidFill>
                  <a:schemeClr val="accent5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E78CD-5FEA-9E98-F65D-889885765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Student performance prediction using data analysis in Python enables accurate, data-driven insights into academic outcomes. By leveraging tools like pandas, matplotlib, seaborn, and machine learning models, educators can identify key performance factors, support at-risk students, and personalize learning strategies. This approach not only enhances decision-making but also contributes to improved educational success and student engagement.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025C-EE25-9BDE-6D7A-DBBA101A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750198"/>
          </a:xfrm>
        </p:spPr>
        <p:txBody>
          <a:bodyPr/>
          <a:lstStyle/>
          <a:p>
            <a:r>
              <a:rPr lang="en-IN" dirty="0"/>
              <a:t>                    </a:t>
            </a:r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7245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164</TotalTime>
  <Words>497</Words>
  <Application>Microsoft Office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inherit</vt:lpstr>
      <vt:lpstr>Tw Cen MT</vt:lpstr>
      <vt:lpstr>Circuit</vt:lpstr>
      <vt:lpstr>Student Performance Prediction</vt:lpstr>
      <vt:lpstr>                             CONTENTS</vt:lpstr>
      <vt:lpstr>                             ABSTRACT</vt:lpstr>
      <vt:lpstr>                        INTRODUCTION</vt:lpstr>
      <vt:lpstr>                   SOFTWARE REQUIREMENT</vt:lpstr>
      <vt:lpstr>                    SYSTEM REQUIREMENTS</vt:lpstr>
      <vt:lpstr>                           ARCHITECTURE</vt:lpstr>
      <vt:lpstr>                   IMPORTING DATASET</vt:lpstr>
      <vt:lpstr>                    DATA EXPLORATION</vt:lpstr>
      <vt:lpstr>                          DATA CLEANING</vt:lpstr>
      <vt:lpstr>                          DATA GROUPING</vt:lpstr>
      <vt:lpstr>                    DATA VISUALIZATION</vt:lpstr>
      <vt:lpstr>                          LIBRARIES USED</vt:lpstr>
      <vt:lpstr>                         ADVANTAGES</vt:lpstr>
      <vt:lpstr>                           CONCLUSION</vt:lpstr>
      <vt:lpstr>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K.Venkata Javahar Reddy</dc:creator>
  <cp:lastModifiedBy>K.Venkata Javahar Reddy</cp:lastModifiedBy>
  <cp:revision>3</cp:revision>
  <dcterms:created xsi:type="dcterms:W3CDTF">2025-06-21T05:46:59Z</dcterms:created>
  <dcterms:modified xsi:type="dcterms:W3CDTF">2025-06-21T10:27:01Z</dcterms:modified>
</cp:coreProperties>
</file>